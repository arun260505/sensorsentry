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496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E5C7E"/>
                </a:solidFill>
                <a:latin typeface="Segoe UI Black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929C"/>
                </a:solidFill>
                <a:latin typeface="Consolas"/>
              </a:rPr>
              <a:t>PROBLEM STATEMENT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28900" y="612648"/>
            <a:ext cx="8904427" cy="0"/>
          </a:xfrm>
          <a:prstGeom prst="line">
            <a:avLst/>
          </a:prstGeom>
          <a:ln w="9525">
            <a:solidFill>
              <a:srgbClr val="C7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96012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5200" b="1">
                <a:solidFill>
                  <a:srgbClr val="0B1B24"/>
                </a:solidFill>
                <a:latin typeface="Segoe UI Black"/>
              </a:rPr>
              <a:t>SENSOR
SENTRY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25C68"/>
                </a:solidFill>
                <a:latin typeface="Georgia"/>
              </a:rPr>
              <a:t>A trust layer for any vehicle that navigates by GPS.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880360"/>
            <a:ext cx="0" cy="1737360"/>
          </a:xfrm>
          <a:prstGeom prst="line">
            <a:avLst/>
          </a:prstGeom>
          <a:ln w="38100">
            <a:solidFill>
              <a:srgbClr val="C8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96112" y="2880360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C8452B"/>
                </a:solidFill>
                <a:latin typeface="Consolas"/>
              </a:rPr>
              <a:t>PS 18  ·  SPOOFING DETECTION &amp; SENSOR 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182112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dirty="0">
                <a:solidFill>
                  <a:srgbClr val="0B1B24"/>
                </a:solidFill>
                <a:latin typeface="Georgia"/>
              </a:rPr>
              <a:t>"Create an intelligent sensor-fusion system that cross-validates simulated sensor data to detect </a:t>
            </a:r>
            <a:r>
              <a:rPr sz="1250" b="1" dirty="0">
                <a:solidFill>
                  <a:srgbClr val="C8452B"/>
                </a:solidFill>
                <a:latin typeface="Georgia"/>
              </a:rPr>
              <a:t>GPS spoofing</a:t>
            </a:r>
            <a:r>
              <a:rPr sz="1250" b="0" dirty="0">
                <a:solidFill>
                  <a:srgbClr val="0B1B24"/>
                </a:solidFill>
                <a:latin typeface="Georgia"/>
              </a:rPr>
              <a:t>, </a:t>
            </a:r>
            <a:r>
              <a:rPr sz="1250" b="1" dirty="0">
                <a:solidFill>
                  <a:srgbClr val="C8452B"/>
                </a:solidFill>
                <a:latin typeface="Georgia"/>
              </a:rPr>
              <a:t>false readings</a:t>
            </a:r>
            <a:r>
              <a:rPr sz="1250" b="0" dirty="0">
                <a:solidFill>
                  <a:srgbClr val="0B1B24"/>
                </a:solidFill>
                <a:latin typeface="Georgia"/>
              </a:rPr>
              <a:t>, or </a:t>
            </a:r>
            <a:r>
              <a:rPr sz="1250" b="1" dirty="0">
                <a:solidFill>
                  <a:srgbClr val="C8452B"/>
                </a:solidFill>
                <a:latin typeface="Georgia"/>
              </a:rPr>
              <a:t>manipulated environmental inputs</a:t>
            </a:r>
            <a:r>
              <a:rPr sz="1250" b="0" dirty="0">
                <a:solidFill>
                  <a:srgbClr val="0B1B24"/>
                </a:solidFill>
                <a:latin typeface="Georgia"/>
              </a:rPr>
              <a:t>."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96112" y="4279392"/>
            <a:ext cx="4846319" cy="0"/>
          </a:xfrm>
          <a:prstGeom prst="line">
            <a:avLst/>
          </a:prstGeom>
          <a:ln w="9525">
            <a:solidFill>
              <a:srgbClr val="C7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96112" y="4370832"/>
            <a:ext cx="15361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C8452B"/>
                </a:solidFill>
                <a:latin typeface="Consolas"/>
              </a:rPr>
              <a:t>GPS SPOOFING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590288"/>
            <a:ext cx="15361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425C68"/>
                </a:solidFill>
                <a:latin typeface="Georgia"/>
              </a:rPr>
              <a:t>An attacker fakes the satellite signal.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4370832"/>
            <a:ext cx="15361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C8452B"/>
                </a:solidFill>
                <a:latin typeface="Consolas"/>
              </a:rPr>
              <a:t>FALSE READINGS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3744" y="4590288"/>
            <a:ext cx="15361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425C68"/>
                </a:solidFill>
                <a:latin typeface="Georgia"/>
              </a:rPr>
              <a:t>No attacker — a sensor is simply failing.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4370832"/>
            <a:ext cx="15361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C8452B"/>
                </a:solidFill>
                <a:latin typeface="Consolas"/>
              </a:rPr>
              <a:t>MANIPULATED 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4590288"/>
            <a:ext cx="153619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425C68"/>
                </a:solidFill>
                <a:latin typeface="Georgia"/>
              </a:rPr>
              <a:t>The world at the sensor is changed.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3492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0B1B24"/>
                </a:solidFill>
                <a:latin typeface="Georgia"/>
              </a:rPr>
              <a:t>Three problems, not one. </a:t>
            </a:r>
            <a:r>
              <a:rPr sz="1000" b="0">
                <a:solidFill>
                  <a:srgbClr val="425C68"/>
                </a:solidFill>
                <a:latin typeface="Georgia"/>
              </a:rPr>
              <a:t>Most teams answer only the first. All three look alike at first, and they demand opposite responses.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051560"/>
            <a:ext cx="51206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8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6827520" y="1051560"/>
            <a:ext cx="0" cy="420624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54240" y="1051560"/>
            <a:ext cx="0" cy="420624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80960" y="1051560"/>
            <a:ext cx="0" cy="420624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107680" y="1051560"/>
            <a:ext cx="0" cy="420624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34400" y="1051560"/>
            <a:ext cx="0" cy="420624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961119" y="1051560"/>
            <a:ext cx="0" cy="420624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387840" y="1051560"/>
            <a:ext cx="0" cy="420624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814560" y="1051560"/>
            <a:ext cx="0" cy="420624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241280" y="1051560"/>
            <a:ext cx="0" cy="420624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68000" y="1051560"/>
            <a:ext cx="0" cy="420624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094720" y="1051560"/>
            <a:ext cx="0" cy="420624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400800" y="1472184"/>
            <a:ext cx="5120640" cy="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00800" y="1892807"/>
            <a:ext cx="5120640" cy="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400800" y="2313432"/>
            <a:ext cx="5120640" cy="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400800" y="2734056"/>
            <a:ext cx="5120640" cy="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400800" y="3154679"/>
            <a:ext cx="5120640" cy="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400800" y="3575303"/>
            <a:ext cx="5120640" cy="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400800" y="3995927"/>
            <a:ext cx="5120640" cy="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0" y="4416552"/>
            <a:ext cx="5120640" cy="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400800" y="4837175"/>
            <a:ext cx="5120640" cy="0"/>
          </a:xfrm>
          <a:prstGeom prst="line">
            <a:avLst/>
          </a:prstGeom>
          <a:ln w="7620">
            <a:solidFill>
              <a:srgbClr val="EDF4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7168896" y="2584462"/>
            <a:ext cx="2867558" cy="1758938"/>
          </a:xfrm>
          <a:custGeom>
            <a:avLst/>
            <a:gdLst/>
            <a:ahLst/>
            <a:cxnLst/>
            <a:rect l="l" t="t" r="r" b="b"/>
            <a:pathLst>
              <a:path w="2867558" h="1758938">
                <a:moveTo>
                  <a:pt x="0" y="1758938"/>
                </a:moveTo>
                <a:lnTo>
                  <a:pt x="133502" y="1441580"/>
                </a:lnTo>
                <a:lnTo>
                  <a:pt x="277977" y="1155713"/>
                </a:lnTo>
                <a:lnTo>
                  <a:pt x="433425" y="901338"/>
                </a:lnTo>
                <a:lnTo>
                  <a:pt x="599846" y="678453"/>
                </a:lnTo>
                <a:lnTo>
                  <a:pt x="777240" y="487058"/>
                </a:lnTo>
                <a:lnTo>
                  <a:pt x="965606" y="327155"/>
                </a:lnTo>
                <a:lnTo>
                  <a:pt x="1164945" y="198742"/>
                </a:lnTo>
                <a:lnTo>
                  <a:pt x="1375257" y="101821"/>
                </a:lnTo>
                <a:lnTo>
                  <a:pt x="1596542" y="36390"/>
                </a:lnTo>
                <a:lnTo>
                  <a:pt x="1828800" y="2450"/>
                </a:lnTo>
                <a:lnTo>
                  <a:pt x="2072030" y="0"/>
                </a:lnTo>
                <a:lnTo>
                  <a:pt x="2326233" y="29042"/>
                </a:lnTo>
                <a:lnTo>
                  <a:pt x="2591409" y="89574"/>
                </a:lnTo>
                <a:lnTo>
                  <a:pt x="2867558" y="181597"/>
                </a:lnTo>
              </a:path>
            </a:pathLst>
          </a:custGeom>
          <a:noFill/>
          <a:ln w="34925">
            <a:solidFill>
              <a:srgbClr val="0E5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Freeform 40"/>
          <p:cNvSpPr/>
          <p:nvPr/>
        </p:nvSpPr>
        <p:spPr>
          <a:xfrm>
            <a:off x="7168896" y="2940225"/>
            <a:ext cx="3577279" cy="1403175"/>
          </a:xfrm>
          <a:custGeom>
            <a:avLst/>
            <a:gdLst/>
            <a:ahLst/>
            <a:cxnLst/>
            <a:rect l="l" t="t" r="r" b="b"/>
            <a:pathLst>
              <a:path w="3577279" h="1403175">
                <a:moveTo>
                  <a:pt x="0" y="1403175"/>
                </a:moveTo>
                <a:lnTo>
                  <a:pt x="133502" y="1085817"/>
                </a:lnTo>
                <a:lnTo>
                  <a:pt x="277977" y="799950"/>
                </a:lnTo>
                <a:lnTo>
                  <a:pt x="433425" y="545575"/>
                </a:lnTo>
                <a:lnTo>
                  <a:pt x="599846" y="322690"/>
                </a:lnTo>
                <a:lnTo>
                  <a:pt x="795674" y="150106"/>
                </a:lnTo>
                <a:lnTo>
                  <a:pt x="1060850" y="68580"/>
                </a:lnTo>
                <a:lnTo>
                  <a:pt x="1336999" y="18544"/>
                </a:lnTo>
                <a:lnTo>
                  <a:pt x="1624120" y="0"/>
                </a:lnTo>
                <a:lnTo>
                  <a:pt x="1922215" y="12946"/>
                </a:lnTo>
                <a:lnTo>
                  <a:pt x="2231282" y="57383"/>
                </a:lnTo>
                <a:lnTo>
                  <a:pt x="2551322" y="133311"/>
                </a:lnTo>
                <a:lnTo>
                  <a:pt x="2882335" y="240730"/>
                </a:lnTo>
                <a:lnTo>
                  <a:pt x="3224320" y="379639"/>
                </a:lnTo>
                <a:lnTo>
                  <a:pt x="3577279" y="550039"/>
                </a:lnTo>
              </a:path>
            </a:pathLst>
          </a:custGeom>
          <a:noFill/>
          <a:ln w="28575">
            <a:solidFill>
              <a:srgbClr val="C845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10036454" y="2766059"/>
            <a:ext cx="709721" cy="724205"/>
          </a:xfrm>
          <a:prstGeom prst="line">
            <a:avLst/>
          </a:prstGeom>
          <a:ln w="12700">
            <a:solidFill>
              <a:srgbClr val="7A929C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9967874" y="2697479"/>
            <a:ext cx="137160" cy="137160"/>
          </a:xfrm>
          <a:prstGeom prst="ellipse">
            <a:avLst/>
          </a:prstGeom>
          <a:solidFill>
            <a:srgbClr val="0E5C7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677595" y="3421684"/>
            <a:ext cx="137160" cy="137160"/>
          </a:xfrm>
          <a:prstGeom prst="ellipse">
            <a:avLst/>
          </a:prstGeom>
          <a:solidFill>
            <a:srgbClr val="C8452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4623" y="2731769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dirty="0">
                <a:solidFill>
                  <a:srgbClr val="0E5C7E"/>
                </a:solidFill>
                <a:latin typeface="Segoe UI"/>
              </a:rPr>
              <a:t>where it really 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8815" y="3609136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>
                <a:solidFill>
                  <a:srgbClr val="C8452B"/>
                </a:solidFill>
                <a:latin typeface="Segoe UI"/>
              </a:rPr>
              <a:t>where GPS claims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81108" y="317296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dirty="0">
                <a:solidFill>
                  <a:srgbClr val="C8452B"/>
                </a:solidFill>
                <a:latin typeface="Consolas"/>
              </a:rPr>
              <a:t>residual 145 m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656832" y="1362456"/>
            <a:ext cx="310896" cy="0"/>
          </a:xfrm>
          <a:prstGeom prst="line">
            <a:avLst/>
          </a:prstGeom>
          <a:ln w="31750">
            <a:solidFill>
              <a:srgbClr val="0E5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6656832" y="1581912"/>
            <a:ext cx="310896" cy="0"/>
          </a:xfrm>
          <a:prstGeom prst="line">
            <a:avLst/>
          </a:prstGeom>
          <a:ln w="31750">
            <a:solidFill>
              <a:srgbClr val="C845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059168" y="1271016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25C68"/>
                </a:solidFill>
                <a:latin typeface="Consolas"/>
              </a:rPr>
              <a:t>the witness — physics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59168" y="1490472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425C68"/>
                </a:solidFill>
                <a:latin typeface="Consolas"/>
              </a:rPr>
              <a:t>the GPS claim — the lie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72600" y="1252728"/>
            <a:ext cx="1874519" cy="566928"/>
          </a:xfrm>
          <a:prstGeom prst="rect">
            <a:avLst/>
          </a:prstGeom>
          <a:solidFill>
            <a:srgbClr val="F8E8E4"/>
          </a:solidFill>
          <a:ln w="15875">
            <a:solidFill>
              <a:srgbClr val="C84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464040" y="132588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8452B"/>
                </a:solidFill>
                <a:latin typeface="Segoe UI Black"/>
              </a:rPr>
              <a:t>ALERT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64040" y="1581912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E4A3A"/>
                </a:solidFill>
                <a:latin typeface="Consolas"/>
              </a:rPr>
              <a:t>guilty: gnss · attack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367528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A929C"/>
                </a:solidFill>
                <a:latin typeface="Georgia"/>
              </a:rPr>
              <a:t>A spoofing walk-off as it happens: the real track, the position GPS claims, and the gap that gives the attack away.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A929C"/>
                </a:solidFill>
                <a:latin typeface="Consolas"/>
              </a:rPr>
              <a:t>01 / 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355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SENSORSENTRY  ·  PS 18  ·  REVIEW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E5C7E"/>
                </a:solidFill>
                <a:latin typeface="Segoe UI Black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929C"/>
                </a:solidFill>
                <a:latin typeface="Consolas"/>
              </a:rPr>
              <a:t>PROPOSED SOLUTION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28900" y="612648"/>
            <a:ext cx="8904427" cy="0"/>
          </a:xfrm>
          <a:prstGeom prst="line">
            <a:avLst/>
          </a:prstGeom>
          <a:ln w="9525">
            <a:solidFill>
              <a:srgbClr val="C7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686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B1B24"/>
                </a:solidFill>
                <a:latin typeface="Segoe UI Black"/>
              </a:rPr>
              <a:t>The vehicle has other senses. Nobody is asking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10874959" cy="1371600"/>
          </a:xfrm>
          <a:prstGeom prst="rect">
            <a:avLst/>
          </a:prstGeom>
          <a:solidFill>
            <a:srgbClr val="083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2996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9D8E3"/>
                </a:solidFill>
                <a:latin typeface="Consolas"/>
              </a:rPr>
              <a:t>OUR ANSWER, IN ONE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Segoe UI Black"/>
              </a:rPr>
              <a:t>An attacker can fake the signal a vehicle receives. He cannot fake what the vehicle </a:t>
            </a:r>
            <a:r>
              <a:rPr sz="2200" b="1">
                <a:solidFill>
                  <a:srgbClr val="7FD4EE"/>
                </a:solidFill>
                <a:latin typeface="Segoe UI Black"/>
              </a:rPr>
              <a:t>physically feels</a:t>
            </a:r>
            <a:r>
              <a:rPr sz="2200" b="1">
                <a:solidFill>
                  <a:srgbClr val="FFFFFF"/>
                </a:solidFill>
                <a:latin typeface="Segoe UI Black"/>
              </a:rPr>
              <a:t>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3611880"/>
            <a:ext cx="3429000" cy="0"/>
          </a:xfrm>
          <a:prstGeom prst="line">
            <a:avLst/>
          </a:prstGeom>
          <a:ln w="31750">
            <a:solidFill>
              <a:srgbClr val="0E5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3749039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5C7E"/>
                </a:solidFill>
                <a:latin typeface="Segoe UI Blac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37083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B24"/>
                </a:solidFill>
                <a:latin typeface="Segoe UI Black"/>
              </a:rPr>
              <a:t>Build a second opinion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70916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25C68"/>
                </a:solidFill>
                <a:latin typeface="Georgia"/>
              </a:rPr>
              <a:t>From its own motion, heading and wheels, the vehicle works out where it must be — without ever reading GPS.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34840" y="3611880"/>
            <a:ext cx="3429000" cy="0"/>
          </a:xfrm>
          <a:prstGeom prst="line">
            <a:avLst/>
          </a:prstGeom>
          <a:ln w="31750">
            <a:solidFill>
              <a:srgbClr val="0E5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34840" y="3749039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5C7E"/>
                </a:solidFill>
                <a:latin typeface="Segoe UI Blac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37083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B24"/>
                </a:solidFill>
                <a:latin typeface="Segoe UI Black"/>
              </a:rPr>
              <a:t>Find who disagrees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470916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25C68"/>
                </a:solidFill>
                <a:latin typeface="Georgia"/>
              </a:rPr>
              <a:t>Every sensor is checked against every other. If one disagrees with all the rest while they agree, that one is lying.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11312" y="3611880"/>
            <a:ext cx="3429000" cy="0"/>
          </a:xfrm>
          <a:prstGeom prst="line">
            <a:avLst/>
          </a:prstGeom>
          <a:ln w="31750">
            <a:solidFill>
              <a:srgbClr val="0E5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11312" y="3749039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5C7E"/>
                </a:solidFill>
                <a:latin typeface="Segoe UI Black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437083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1B24"/>
                </a:solidFill>
                <a:latin typeface="Segoe UI Black"/>
              </a:rPr>
              <a:t>Attack, or breakdown?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4709160"/>
            <a:ext cx="3383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25C68"/>
                </a:solidFill>
                <a:latin typeface="Georgia"/>
              </a:rPr>
              <a:t>A fault is random and messy. An attack is smooth, and pulls steadily one way. Drop the liar, keep navigating.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58368" y="5715000"/>
            <a:ext cx="10874959" cy="0"/>
          </a:xfrm>
          <a:prstGeom prst="line">
            <a:avLst/>
          </a:prstGeom>
          <a:ln w="31750">
            <a:solidFill>
              <a:srgbClr val="C8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58521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C8452B"/>
                </a:solidFill>
                <a:latin typeface="Consolas"/>
              </a:rPr>
              <a:t>THE ONE QUESTION IT KEEPS ASKING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1081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B1B24"/>
                </a:solidFill>
                <a:latin typeface="Georgia"/>
              </a:rPr>
              <a:t>GPS says "you are here." Do the other senses agree?  </a:t>
            </a:r>
            <a:r>
              <a:rPr sz="1300" b="1">
                <a:solidFill>
                  <a:srgbClr val="0E5C7E"/>
                </a:solidFill>
                <a:latin typeface="Georgia"/>
              </a:rPr>
              <a:t>When they don't, that disagreement is the proof.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A929C"/>
                </a:solidFill>
                <a:latin typeface="Consolas"/>
              </a:rPr>
              <a:t>02 / 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SENSORSENTRY  ·  PS 18  ·  REVIEW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E5C7E"/>
                </a:solidFill>
                <a:latin typeface="Segoe UI Black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929C"/>
                </a:solidFill>
                <a:latin typeface="Consolas"/>
              </a:rPr>
              <a:t>THE SENSORS · EVERY ONE, AND WHAT IT IS FOR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411980" y="612648"/>
            <a:ext cx="7121347" cy="0"/>
          </a:xfrm>
          <a:prstGeom prst="line">
            <a:avLst/>
          </a:prstGeom>
          <a:ln w="9525">
            <a:solidFill>
              <a:srgbClr val="C7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686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B1B24"/>
                </a:solidFill>
                <a:latin typeface="Segoe UI Black"/>
              </a:rPr>
              <a:t>Six independent witnesses, all already fitted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A929C"/>
                </a:solidFill>
                <a:latin typeface="Georgia"/>
              </a:rPr>
              <a:t>Not one of these is new hardware. Every drone and every tracked truck already carries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2011680"/>
            <a:ext cx="3566160" cy="45720"/>
          </a:xfrm>
          <a:prstGeom prst="rect">
            <a:avLst/>
          </a:prstGeom>
          <a:solidFill>
            <a:srgbClr val="C84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194560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C8452B"/>
                </a:solidFill>
                <a:latin typeface="Consolas"/>
              </a:rPr>
              <a:t>GNSS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450592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B24"/>
                </a:solidFill>
                <a:latin typeface="Segoe UI Black"/>
              </a:rPr>
              <a:t>Global Navigation Satellite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743200"/>
            <a:ext cx="31638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25C68"/>
                </a:solidFill>
                <a:latin typeface="Georgia"/>
              </a:rPr>
              <a:t>The satellite receiver — the one being lied to.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9536" y="3337560"/>
            <a:ext cx="3163824" cy="0"/>
          </a:xfrm>
          <a:prstGeom prst="line">
            <a:avLst/>
          </a:prstGeom>
          <a:ln w="9525">
            <a:solidFill>
              <a:srgbClr val="DF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59536" y="3410712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On the vehicle: </a:t>
            </a:r>
            <a:r>
              <a:rPr sz="850" b="0">
                <a:solidFill>
                  <a:srgbClr val="425C68"/>
                </a:solidFill>
                <a:latin typeface="Consolas"/>
              </a:rPr>
              <a:t>antenna on the roof or airframe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" y="3621024"/>
            <a:ext cx="1920240" cy="237744"/>
          </a:xfrm>
          <a:prstGeom prst="rect">
            <a:avLst/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850">
                <a:solidFill>
                  <a:srgbClr val="C8452B"/>
                </a:solidFill>
                <a:latin typeface="Consolas"/>
              </a:rPr>
              <a:t>an attacker can fake this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43983" y="201168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43983" y="2011680"/>
            <a:ext cx="3566160" cy="45720"/>
          </a:xfrm>
          <a:prstGeom prst="rect">
            <a:avLst/>
          </a:prstGeom>
          <a:solidFill>
            <a:srgbClr val="0E5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45151" y="2194560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5C7E"/>
                </a:solidFill>
                <a:latin typeface="Consolas"/>
              </a:rPr>
              <a:t>IMU · accelerometer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1" y="2450592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B24"/>
                </a:solidFill>
                <a:latin typeface="Segoe UI Black"/>
              </a:rPr>
              <a:t>Inertial Measurement Unit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1" y="2743200"/>
            <a:ext cx="31638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25C68"/>
                </a:solidFill>
                <a:latin typeface="Georgia"/>
              </a:rPr>
              <a:t>Feels every push, brake and bump — the vehicle's inner ear.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645151" y="3337560"/>
            <a:ext cx="3163824" cy="0"/>
          </a:xfrm>
          <a:prstGeom prst="line">
            <a:avLst/>
          </a:prstGeom>
          <a:ln w="9525">
            <a:solidFill>
              <a:srgbClr val="DF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45151" y="3410712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On the vehicle: </a:t>
            </a:r>
            <a:r>
              <a:rPr sz="850" b="0">
                <a:solidFill>
                  <a:srgbClr val="425C68"/>
                </a:solidFill>
                <a:latin typeface="Consolas"/>
              </a:rPr>
              <a:t>a chip inside the tracker box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45151" y="3621024"/>
            <a:ext cx="1737360" cy="237744"/>
          </a:xfrm>
          <a:prstGeom prst="rect">
            <a:avLst/>
          </a:prstGeom>
          <a:solidFill>
            <a:srgbClr val="E2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850">
                <a:solidFill>
                  <a:srgbClr val="2C7355"/>
                </a:solidFill>
                <a:latin typeface="Consolas"/>
              </a:rPr>
              <a:t>out of his reach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011680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2011680"/>
            <a:ext cx="3566160" cy="45720"/>
          </a:xfrm>
          <a:prstGeom prst="rect">
            <a:avLst/>
          </a:prstGeom>
          <a:solidFill>
            <a:srgbClr val="0E5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30768" y="2194560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5C7E"/>
                </a:solidFill>
                <a:latin typeface="Consolas"/>
              </a:rPr>
              <a:t>IMU · gyroscope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0768" y="2450592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B24"/>
                </a:solidFill>
                <a:latin typeface="Segoe UI Black"/>
              </a:rPr>
              <a:t>Inertial Measurement Unit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2743200"/>
            <a:ext cx="31638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25C68"/>
                </a:solidFill>
                <a:latin typeface="Georgia"/>
              </a:rPr>
              <a:t>The same chip, measuring spin. It knows the moment the vehicle actually turns.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30768" y="3337560"/>
            <a:ext cx="3163824" cy="0"/>
          </a:xfrm>
          <a:prstGeom prst="line">
            <a:avLst/>
          </a:prstGeom>
          <a:ln w="9525">
            <a:solidFill>
              <a:srgbClr val="DF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30768" y="3410712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On the vehicle: </a:t>
            </a:r>
            <a:r>
              <a:rPr sz="850" b="0">
                <a:solidFill>
                  <a:srgbClr val="425C68"/>
                </a:solidFill>
                <a:latin typeface="Consolas"/>
              </a:rPr>
              <a:t>the same chip as the accelerometer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30768" y="3621024"/>
            <a:ext cx="1737360" cy="237744"/>
          </a:xfrm>
          <a:prstGeom prst="rect">
            <a:avLst/>
          </a:prstGeom>
          <a:solidFill>
            <a:srgbClr val="E2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850">
                <a:solidFill>
                  <a:srgbClr val="2C7355"/>
                </a:solidFill>
                <a:latin typeface="Consolas"/>
              </a:rPr>
              <a:t>out of his reach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169664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" y="4169664"/>
            <a:ext cx="3566160" cy="45720"/>
          </a:xfrm>
          <a:prstGeom prst="rect">
            <a:avLst/>
          </a:prstGeom>
          <a:solidFill>
            <a:srgbClr val="0E5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9536" y="4352544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5C7E"/>
                </a:solidFill>
                <a:latin typeface="Consolas"/>
              </a:rPr>
              <a:t>BARO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608576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B24"/>
                </a:solidFill>
                <a:latin typeface="Segoe UI Black"/>
              </a:rPr>
              <a:t>Barometer — pressure sensor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" y="4901184"/>
            <a:ext cx="31638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25C68"/>
                </a:solidFill>
                <a:latin typeface="Georgia"/>
              </a:rPr>
              <a:t>Air thins as you climb, so pressure gives height.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59536" y="5495544"/>
            <a:ext cx="3163824" cy="0"/>
          </a:xfrm>
          <a:prstGeom prst="line">
            <a:avLst/>
          </a:prstGeom>
          <a:ln w="9525">
            <a:solidFill>
              <a:srgbClr val="DF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59536" y="5568696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On the vehicle: </a:t>
            </a:r>
            <a:r>
              <a:rPr sz="850" b="0">
                <a:solidFill>
                  <a:srgbClr val="425C68"/>
                </a:solidFill>
                <a:latin typeface="Consolas"/>
              </a:rPr>
              <a:t>a vented port on the same board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536" y="5779008"/>
            <a:ext cx="1737360" cy="237744"/>
          </a:xfrm>
          <a:prstGeom prst="rect">
            <a:avLst/>
          </a:prstGeom>
          <a:solidFill>
            <a:srgbClr val="FA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850">
                <a:solidFill>
                  <a:srgbClr val="B57A10"/>
                </a:solidFill>
                <a:latin typeface="Consolas"/>
              </a:rPr>
              <a:t>only by physical means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43983" y="4169664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443983" y="4169664"/>
            <a:ext cx="3566160" cy="45720"/>
          </a:xfrm>
          <a:prstGeom prst="rect">
            <a:avLst/>
          </a:prstGeom>
          <a:solidFill>
            <a:srgbClr val="0E5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45151" y="4352544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5C7E"/>
                </a:solidFill>
                <a:latin typeface="Consolas"/>
              </a:rPr>
              <a:t>MAG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5151" y="4608576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B24"/>
                </a:solidFill>
                <a:latin typeface="Segoe UI Black"/>
              </a:rPr>
              <a:t>Magnetometer — digital compass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45151" y="4901184"/>
            <a:ext cx="31638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25C68"/>
                </a:solidFill>
                <a:latin typeface="Georgia"/>
              </a:rPr>
              <a:t>Reads the Earth's magnetic field to know which way the vehicle points.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645151" y="5495544"/>
            <a:ext cx="3163824" cy="0"/>
          </a:xfrm>
          <a:prstGeom prst="line">
            <a:avLst/>
          </a:prstGeom>
          <a:ln w="9525">
            <a:solidFill>
              <a:srgbClr val="DF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645151" y="5568696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On the vehicle: </a:t>
            </a:r>
            <a:r>
              <a:rPr sz="850" b="0">
                <a:solidFill>
                  <a:srgbClr val="425C68"/>
                </a:solidFill>
                <a:latin typeface="Consolas"/>
              </a:rPr>
              <a:t>away from the motors, often on a mast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45151" y="5779008"/>
            <a:ext cx="1737360" cy="237744"/>
          </a:xfrm>
          <a:prstGeom prst="rect">
            <a:avLst/>
          </a:prstGeom>
          <a:solidFill>
            <a:srgbClr val="FAF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850">
                <a:solidFill>
                  <a:srgbClr val="B57A10"/>
                </a:solidFill>
                <a:latin typeface="Consolas"/>
              </a:rPr>
              <a:t>only by physical means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4169664"/>
            <a:ext cx="35661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229600" y="4169664"/>
            <a:ext cx="3566160" cy="45720"/>
          </a:xfrm>
          <a:prstGeom prst="rect">
            <a:avLst/>
          </a:prstGeom>
          <a:solidFill>
            <a:srgbClr val="0E5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30768" y="4352544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E5C7E"/>
                </a:solidFill>
                <a:latin typeface="Consolas"/>
              </a:rPr>
              <a:t>ODOM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0768" y="4608576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B24"/>
                </a:solidFill>
                <a:latin typeface="Segoe UI Black"/>
              </a:rPr>
              <a:t>Wheel odometry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0768" y="4901184"/>
            <a:ext cx="31638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25C68"/>
                </a:solidFill>
                <a:latin typeface="Georgia"/>
              </a:rPr>
              <a:t>Counts wheel turns to measure real distance covered. Trucks only.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430768" y="5495544"/>
            <a:ext cx="3163824" cy="0"/>
          </a:xfrm>
          <a:prstGeom prst="line">
            <a:avLst/>
          </a:prstGeom>
          <a:ln w="9525">
            <a:solidFill>
              <a:srgbClr val="DF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430768" y="5568696"/>
            <a:ext cx="31638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On the vehicle: </a:t>
            </a:r>
            <a:r>
              <a:rPr sz="850" b="0">
                <a:solidFill>
                  <a:srgbClr val="425C68"/>
                </a:solidFill>
                <a:latin typeface="Consolas"/>
              </a:rPr>
              <a:t>the ABS sensor already at the wheel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30768" y="5779008"/>
            <a:ext cx="1737360" cy="237744"/>
          </a:xfrm>
          <a:prstGeom prst="rect">
            <a:avLst/>
          </a:prstGeom>
          <a:solidFill>
            <a:srgbClr val="E2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850">
                <a:solidFill>
                  <a:srgbClr val="2C7355"/>
                </a:solidFill>
                <a:latin typeface="Consolas"/>
              </a:rPr>
              <a:t>out of his reach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117336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dirty="0">
                <a:solidFill>
                  <a:srgbClr val="0B1B24"/>
                </a:solidFill>
                <a:latin typeface="Georgia"/>
              </a:rPr>
              <a:t>The point of the last row: </a:t>
            </a:r>
            <a:r>
              <a:rPr sz="1000" b="0" dirty="0">
                <a:solidFill>
                  <a:srgbClr val="425C68"/>
                </a:solidFill>
                <a:latin typeface="Georgia"/>
              </a:rPr>
              <a:t>GPS is the only one an attacker can touch from a distance. The other five, he would have to reach the vehicle itself — </a:t>
            </a:r>
            <a:r>
              <a:rPr sz="1000" b="1" dirty="0">
                <a:solidFill>
                  <a:srgbClr val="0E5C7E"/>
                </a:solidFill>
                <a:latin typeface="Georgia"/>
              </a:rPr>
              <a:t>which is the whole reason this works.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A929C"/>
                </a:solidFill>
                <a:latin typeface="Consolas"/>
              </a:rPr>
              <a:t>03 / 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4465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dirty="0">
                <a:solidFill>
                  <a:srgbClr val="7A929C"/>
                </a:solidFill>
                <a:latin typeface="Consolas"/>
              </a:rPr>
              <a:t>SENSORSENTRY  ·  PS 18  ·  REVIEW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E5C7E"/>
                </a:solidFill>
                <a:latin typeface="Segoe UI Black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929C"/>
                </a:solidFill>
                <a:latin typeface="Consolas"/>
              </a:rPr>
              <a:t>NAMING THE LIAR, AND KNOWING WHY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0" y="612648"/>
            <a:ext cx="7875727" cy="0"/>
          </a:xfrm>
          <a:prstGeom prst="line">
            <a:avLst/>
          </a:prstGeom>
          <a:ln w="9525">
            <a:solidFill>
              <a:srgbClr val="C7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686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B1B24"/>
                </a:solidFill>
                <a:latin typeface="Segoe UI Black"/>
              </a:rPr>
              <a:t>A diagnosis, not an alarm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79" y="1691640"/>
            <a:ext cx="2286000" cy="3703320"/>
          </a:xfrm>
          <a:prstGeom prst="rect">
            <a:avLst/>
          </a:prstGeom>
          <a:solidFill>
            <a:srgbClr val="E2EFF4"/>
          </a:solidFill>
          <a:ln w="15875">
            <a:solidFill>
              <a:srgbClr val="0E5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794760" y="1828800"/>
            <a:ext cx="19202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E5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94760" y="19842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0E5C7E"/>
                </a:solidFill>
                <a:latin typeface="Consolas"/>
              </a:rPr>
              <a:t>imu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057400" y="2112264"/>
            <a:ext cx="1691640" cy="1271016"/>
          </a:xfrm>
          <a:prstGeom prst="line">
            <a:avLst/>
          </a:prstGeom>
          <a:ln w="22225">
            <a:solidFill>
              <a:srgbClr val="C845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794760" y="2697480"/>
            <a:ext cx="19202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E5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94760" y="285292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0E5C7E"/>
                </a:solidFill>
                <a:latin typeface="Consolas"/>
              </a:rPr>
              <a:t>baro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057400" y="2980944"/>
            <a:ext cx="1691640" cy="402336"/>
          </a:xfrm>
          <a:prstGeom prst="line">
            <a:avLst/>
          </a:prstGeom>
          <a:ln w="22225">
            <a:solidFill>
              <a:srgbClr val="C845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794760" y="3566160"/>
            <a:ext cx="19202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E5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94760" y="372160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0E5C7E"/>
                </a:solidFill>
                <a:latin typeface="Consolas"/>
              </a:rPr>
              <a:t>mag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57400" y="3383280"/>
            <a:ext cx="1691640" cy="466344"/>
          </a:xfrm>
          <a:prstGeom prst="line">
            <a:avLst/>
          </a:prstGeom>
          <a:ln w="22225">
            <a:solidFill>
              <a:srgbClr val="C845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794760" y="4434840"/>
            <a:ext cx="192024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0E5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94760" y="459028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0E5C7E"/>
                </a:solidFill>
                <a:latin typeface="Consolas"/>
              </a:rPr>
              <a:t>odom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57400" y="3383280"/>
            <a:ext cx="1691640" cy="1335023"/>
          </a:xfrm>
          <a:prstGeom prst="line">
            <a:avLst/>
          </a:prstGeom>
          <a:ln w="22225">
            <a:solidFill>
              <a:srgbClr val="C845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22960" y="2697480"/>
            <a:ext cx="1371600" cy="1371600"/>
          </a:xfrm>
          <a:prstGeom prst="ellipse">
            <a:avLst/>
          </a:prstGeom>
          <a:solidFill>
            <a:srgbClr val="F8E8E4"/>
          </a:solidFill>
          <a:ln w="31750">
            <a:solidFill>
              <a:srgbClr val="C845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24612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C8452B"/>
                </a:solidFill>
                <a:latin typeface="Consolas"/>
              </a:rPr>
              <a:t>gnss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062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0B1B24"/>
                </a:solidFill>
                <a:latin typeface="Segoe UI Black"/>
              </a:rPr>
              <a:t>disagrees with
all four others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79" y="546811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0E5C7E"/>
                </a:solidFill>
                <a:latin typeface="Segoe UI"/>
              </a:rPr>
              <a:t>these four agree with each other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98932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0B1B24"/>
                </a:solidFill>
                <a:latin typeface="Georgia"/>
              </a:rPr>
              <a:t>Four against one — that pattern is the accusation. </a:t>
            </a:r>
            <a:r>
              <a:rPr sz="1000" b="0">
                <a:solidFill>
                  <a:srgbClr val="425C68"/>
                </a:solidFill>
                <a:latin typeface="Georgia"/>
              </a:rPr>
              <a:t>If the compass were the odd one out, the compass would be named.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1828800"/>
            <a:ext cx="5120640" cy="0"/>
          </a:xfrm>
          <a:prstGeom prst="line">
            <a:avLst/>
          </a:prstGeom>
          <a:ln w="31750">
            <a:solidFill>
              <a:srgbClr val="B57A1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0" y="1947672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57A10"/>
                </a:solidFill>
                <a:latin typeface="Consolas"/>
              </a:rPr>
              <a:t>CAUSE 1 · A SENSOR FAULT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12848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25C68"/>
                </a:solidFill>
                <a:latin typeface="Georgia"/>
              </a:rPr>
              <a:t>Random, jumpy, incoherent. Drop it, keep operating, flag the vehicle for service.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0" y="2907791"/>
            <a:ext cx="5120640" cy="0"/>
          </a:xfrm>
          <a:prstGeom prst="line">
            <a:avLst/>
          </a:prstGeom>
          <a:ln w="31750">
            <a:solidFill>
              <a:srgbClr val="C845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0" y="3026663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C8452B"/>
                </a:solidFill>
                <a:latin typeface="Consolas"/>
              </a:rPr>
              <a:t>CAUSE 2 · A SPOOFING ATTACK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291839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25C68"/>
                </a:solidFill>
                <a:latin typeface="Georgia"/>
              </a:rPr>
              <a:t>Smooth, steady, pulling one way. Too clean to be a fault. Alarm, switch navigation, preserve evidence.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00800" y="3986783"/>
            <a:ext cx="5120640" cy="0"/>
          </a:xfrm>
          <a:prstGeom prst="line">
            <a:avLst/>
          </a:prstGeom>
          <a:ln w="31750">
            <a:solidFill>
              <a:srgbClr val="0E5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00800" y="4105655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0E5C7E"/>
                </a:solidFill>
                <a:latin typeface="Consolas"/>
              </a:rPr>
              <a:t>CAUSE 3 · MANIPULATED ENVIRONMENT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370831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25C68"/>
                </a:solidFill>
                <a:latin typeface="Georgia"/>
              </a:rPr>
              <a:t>One measurement shifts while the rest stay honest — the compass swings but the gyro felt no turn.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0" y="5065776"/>
            <a:ext cx="5120640" cy="0"/>
          </a:xfrm>
          <a:prstGeom prst="line">
            <a:avLst/>
          </a:prstGeom>
          <a:ln w="31750">
            <a:solidFill>
              <a:srgbClr val="7A92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00800" y="5184648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AND WHEN WE ARE NOT SURE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449824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425C68"/>
                </a:solidFill>
                <a:latin typeface="Georgia"/>
              </a:rPr>
              <a:t>Below the confidence threshold we say unclassified. The system is allowed to say it does not know.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A929C"/>
                </a:solidFill>
                <a:latin typeface="Consolas"/>
              </a:rPr>
              <a:t>04 / 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SENSORSENTRY  ·  PS 18  ·  REVIEW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E5C7E"/>
                </a:solidFill>
                <a:latin typeface="Segoe UI Black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929C"/>
                </a:solidFill>
                <a:latin typeface="Consolas"/>
              </a:rPr>
              <a:t>SYSTEM 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766060" y="612648"/>
            <a:ext cx="8767267" cy="0"/>
          </a:xfrm>
          <a:prstGeom prst="line">
            <a:avLst/>
          </a:prstGeom>
          <a:ln w="9525">
            <a:solidFill>
              <a:srgbClr val="C7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686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B1B24"/>
                </a:solidFill>
                <a:latin typeface="Segoe UI Black"/>
              </a:rPr>
              <a:t>Three processes, all software, one laptop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77440"/>
            <a:ext cx="237744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425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B1B24"/>
                </a:solidFill>
                <a:latin typeface="Segoe UI Black"/>
              </a:rPr>
              <a:t>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5351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C8452B"/>
                </a:solidFill>
                <a:latin typeface="Consolas"/>
              </a:rPr>
              <a:t>our test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2783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vehicle · sensors · attacks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2377440"/>
            <a:ext cx="2377440" cy="1234440"/>
          </a:xfrm>
          <a:prstGeom prst="rect">
            <a:avLst/>
          </a:prstGeom>
          <a:solidFill>
            <a:srgbClr val="E2EFF4"/>
          </a:solidFill>
          <a:ln w="31750">
            <a:solidFill>
              <a:srgbClr val="0E5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25603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83D55"/>
                </a:solidFill>
                <a:latin typeface="Segoe UI Black"/>
              </a:rPr>
              <a:t>detector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95351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0E5C7E"/>
                </a:solidFill>
                <a:latin typeface="Consolas"/>
              </a:rPr>
              <a:t>the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22783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cross-check · blame · classify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2377440"/>
            <a:ext cx="2377440" cy="1234440"/>
          </a:xfrm>
          <a:prstGeom prst="rect">
            <a:avLst/>
          </a:prstGeom>
          <a:solidFill>
            <a:srgbClr val="FFFFFF"/>
          </a:solidFill>
          <a:ln w="15875">
            <a:solidFill>
              <a:srgbClr val="425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0" y="25603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B1B24"/>
                </a:solidFill>
                <a:latin typeface="Segoe UI Black"/>
              </a:rPr>
              <a:t>console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95351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425C68"/>
                </a:solidFill>
                <a:latin typeface="Consolas"/>
              </a:rPr>
              <a:t>operator + phone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22783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canvas map · no tiles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4892040"/>
            <a:ext cx="237744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425C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92040" y="5029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B24"/>
                </a:solidFill>
                <a:latin typeface="Segoe UI Black"/>
              </a:rPr>
              <a:t>fleet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5367528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cluster · zone · advisory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00400" y="2994660"/>
            <a:ext cx="1691640" cy="0"/>
          </a:xfrm>
          <a:prstGeom prst="bentConnector3">
            <a:avLst/>
          </a:prstGeom>
          <a:ln w="25400">
            <a:solidFill>
              <a:srgbClr val="425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269480" y="2994660"/>
            <a:ext cx="1691640" cy="0"/>
          </a:xfrm>
          <a:prstGeom prst="bentConnector3">
            <a:avLst/>
          </a:prstGeom>
          <a:ln w="31750">
            <a:solidFill>
              <a:srgbClr val="0E5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80760" y="3611880"/>
            <a:ext cx="0" cy="1280160"/>
          </a:xfrm>
          <a:prstGeom prst="bentConnector3">
            <a:avLst/>
          </a:prstGeom>
          <a:ln w="25400">
            <a:solidFill>
              <a:srgbClr val="425C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200400" y="2610612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0B1B24"/>
                </a:solidFill>
                <a:latin typeface="Consolas"/>
              </a:rPr>
              <a:t>UDP :5005 · 20 Hz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140964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C8452B"/>
                </a:solidFill>
                <a:latin typeface="Consolas"/>
              </a:rPr>
              <a:t>no truth crosses 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610612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0B1B24"/>
                </a:solidFill>
                <a:latin typeface="Consolas"/>
              </a:rPr>
              <a:t>WS :8080 · 20 Hz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140964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0E5C7E"/>
                </a:solidFill>
                <a:latin typeface="Consolas"/>
              </a:rPr>
              <a:t>verdicts + trust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069080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25C68"/>
                </a:solidFill>
                <a:latin typeface="Consolas"/>
              </a:rPr>
              <a:t>WS :8081 · incidents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0149840" y="1783080"/>
            <a:ext cx="0" cy="594360"/>
          </a:xfrm>
          <a:prstGeom prst="line">
            <a:avLst/>
          </a:prstGeom>
          <a:ln w="15875">
            <a:solidFill>
              <a:srgbClr val="425C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2011680" y="1783080"/>
            <a:ext cx="8138160" cy="0"/>
          </a:xfrm>
          <a:prstGeom prst="line">
            <a:avLst/>
          </a:prstGeom>
          <a:ln w="15875">
            <a:solidFill>
              <a:srgbClr val="425C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11680" y="1783080"/>
            <a:ext cx="0" cy="594360"/>
          </a:xfrm>
          <a:prstGeom prst="line">
            <a:avLst/>
          </a:prstGeom>
          <a:ln w="15875">
            <a:solidFill>
              <a:srgbClr val="425C6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389120" y="1536192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25C68"/>
                </a:solidFill>
                <a:latin typeface="Consolas"/>
              </a:rPr>
              <a:t>HTTP :5010 · start · reset · inject attack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C8452B"/>
                </a:solidFill>
                <a:latin typeface="Georgia"/>
              </a:rPr>
              <a:t>The rule the whole demo rests on: </a:t>
            </a:r>
            <a:r>
              <a:rPr sz="1050" b="0">
                <a:solidFill>
                  <a:srgbClr val="425C68"/>
                </a:solidFill>
                <a:latin typeface="Georgia"/>
              </a:rPr>
              <a:t>the simulator and the detector are separate processes, and no ground truth ever crosses the socket — no true position, no attack flag, nothing. The detector is structurally incapable of cheating.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A929C"/>
                </a:solidFill>
                <a:latin typeface="Consolas"/>
              </a:rPr>
              <a:t>05 / 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50330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dirty="0">
                <a:solidFill>
                  <a:srgbClr val="7A929C"/>
                </a:solidFill>
                <a:latin typeface="Consolas"/>
              </a:rPr>
              <a:t>SENSORSENTRY  ·  PS 18  ·  REVIEW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E5C7E"/>
                </a:solidFill>
                <a:latin typeface="Segoe UI Black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929C"/>
                </a:solidFill>
                <a:latin typeface="Consolas"/>
              </a:rPr>
              <a:t>NOVELTY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43100" y="612648"/>
            <a:ext cx="9590227" cy="0"/>
          </a:xfrm>
          <a:prstGeom prst="line">
            <a:avLst/>
          </a:prstGeom>
          <a:ln w="9525">
            <a:solidFill>
              <a:srgbClr val="C7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686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B1B24"/>
                </a:solidFill>
                <a:latin typeface="Segoe UI Black"/>
              </a:rPr>
              <a:t>Four things that make this 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A929C"/>
                </a:solidFill>
                <a:latin typeface="Georgia"/>
              </a:rPr>
              <a:t>The novelty is not in noticing that GPS can be faked — it is in where the defence sits, and what it does once it fires.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2240280"/>
            <a:ext cx="2514600" cy="0"/>
          </a:xfrm>
          <a:prstGeom prst="line">
            <a:avLst/>
          </a:prstGeom>
          <a:ln w="38100">
            <a:solidFill>
              <a:srgbClr val="0E5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377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5C7E"/>
                </a:solidFill>
                <a:latin typeface="Segoe UI Blac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260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B1B24"/>
                </a:solidFill>
                <a:latin typeface="Segoe UI Black"/>
              </a:rPr>
              <a:t>No hardware at 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749039"/>
            <a:ext cx="2514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425C68"/>
                </a:solidFill>
                <a:latin typeface="Georgia"/>
              </a:rPr>
              <a:t>Today's protection is an anti-spoofing antenna fitted per vehicle. It protects the fleet you buy next year. Ours protects the fleet running today.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56432" y="2240280"/>
            <a:ext cx="2514600" cy="0"/>
          </a:xfrm>
          <a:prstGeom prst="line">
            <a:avLst/>
          </a:prstGeom>
          <a:ln w="38100">
            <a:solidFill>
              <a:srgbClr val="0E5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56432" y="2377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5C7E"/>
                </a:solidFill>
                <a:latin typeface="Segoe UI Blac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9260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B1B24"/>
                </a:solidFill>
                <a:latin typeface="Segoe UI Black"/>
              </a:rPr>
              <a:t>It names the guilty sensor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3749039"/>
            <a:ext cx="2514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425C68"/>
                </a:solidFill>
                <a:latin typeface="Georgia"/>
              </a:rPr>
              <a:t>Not "something is wrong" — "the compass is lying, and the other four agree that it is." That difference decides whether the operator can act.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54496" y="2240280"/>
            <a:ext cx="2514600" cy="0"/>
          </a:xfrm>
          <a:prstGeom prst="line">
            <a:avLst/>
          </a:prstGeom>
          <a:ln w="38100">
            <a:solidFill>
              <a:srgbClr val="0E5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254496" y="2377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5C7E"/>
                </a:solidFill>
                <a:latin typeface="Segoe UI Blac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9260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B1B24"/>
                </a:solidFill>
                <a:latin typeface="Segoe UI Black"/>
              </a:rPr>
              <a:t>Attack or fault — the question everyone skips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3749039"/>
            <a:ext cx="2514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425C68"/>
                </a:solidFill>
                <a:latin typeface="Georgia"/>
              </a:rPr>
              <a:t>Others stop at "anomaly detected." We answer why, because a broken sensor and a deliberate attack demand opposite responses.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52560" y="2240280"/>
            <a:ext cx="2514600" cy="0"/>
          </a:xfrm>
          <a:prstGeom prst="line">
            <a:avLst/>
          </a:prstGeom>
          <a:ln w="38100">
            <a:solidFill>
              <a:srgbClr val="0E5C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052560" y="23774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5C7E"/>
                </a:solidFill>
                <a:latin typeface="Segoe UI Black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92608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B1B24"/>
                </a:solidFill>
                <a:latin typeface="Segoe UI Black"/>
              </a:rPr>
              <a:t>The fleet checks itself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749039"/>
            <a:ext cx="2514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425C68"/>
                </a:solidFill>
                <a:latin typeface="Georgia"/>
              </a:rPr>
              <a:t>One vehicle might be a fault. Four in the same area at the same moment is certainly an attack — and you know where the attacker stands.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32120"/>
            <a:ext cx="10874959" cy="777240"/>
          </a:xfrm>
          <a:prstGeom prst="rect">
            <a:avLst/>
          </a:prstGeom>
          <a:solidFill>
            <a:srgbClr val="083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76072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Georgia"/>
              </a:rPr>
              <a:t>Claim 04 is also the business. </a:t>
            </a:r>
            <a:r>
              <a:rPr sz="1200" b="0">
                <a:solidFill>
                  <a:srgbClr val="B9D8E3"/>
                </a:solidFill>
                <a:latin typeface="Georgia"/>
              </a:rPr>
              <a:t>Every vehicle added is another witness on the map. </a:t>
            </a:r>
            <a:r>
              <a:rPr sz="1200" b="0">
                <a:solidFill>
                  <a:srgbClr val="7FD4EE"/>
                </a:solidFill>
                <a:latin typeface="Georgia"/>
              </a:rPr>
              <a:t>A competitor can copy our code in a month. They cannot copy the fleet.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A929C"/>
                </a:solidFill>
                <a:latin typeface="Consolas"/>
              </a:rPr>
              <a:t>06 / 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SENSORSENTRY  ·  PS 18  ·  REVIEW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E5C7E"/>
                </a:solidFill>
                <a:latin typeface="Segoe UI Black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929C"/>
                </a:solidFill>
                <a:latin typeface="Consolas"/>
              </a:rPr>
              <a:t>WHAT WE CAN EXPECT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97480" y="612648"/>
            <a:ext cx="8835847" cy="0"/>
          </a:xfrm>
          <a:prstGeom prst="line">
            <a:avLst/>
          </a:prstGeom>
          <a:ln w="9525">
            <a:solidFill>
              <a:srgbClr val="C7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8686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700" b="1">
                <a:solidFill>
                  <a:srgbClr val="0B1B24"/>
                </a:solidFill>
                <a:latin typeface="Segoe UI Black"/>
              </a:rPr>
              <a:t>What the finished system will do — and where it fails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65960"/>
            <a:ext cx="5029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965960"/>
            <a:ext cx="1508760" cy="3200400"/>
          </a:xfrm>
          <a:prstGeom prst="rect">
            <a:avLst/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C8452B"/>
                </a:solidFill>
                <a:latin typeface="Segoe UI Black"/>
              </a:rPr>
              <a:t>hidden inside
our own drift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4754880"/>
            <a:ext cx="4572000" cy="0"/>
          </a:xfrm>
          <a:prstGeom prst="line">
            <a:avLst/>
          </a:prstGeom>
          <a:ln w="9525">
            <a:solidFill>
              <a:srgbClr val="C7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4654296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7280" y="4149090"/>
            <a:ext cx="4572000" cy="0"/>
          </a:xfrm>
          <a:prstGeom prst="line">
            <a:avLst/>
          </a:prstGeom>
          <a:ln w="9525">
            <a:solidFill>
              <a:srgbClr val="DF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4048506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97280" y="3543300"/>
            <a:ext cx="4572000" cy="0"/>
          </a:xfrm>
          <a:prstGeom prst="line">
            <a:avLst/>
          </a:prstGeom>
          <a:ln w="9525">
            <a:solidFill>
              <a:srgbClr val="DF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3442716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97280" y="2937510"/>
            <a:ext cx="4572000" cy="0"/>
          </a:xfrm>
          <a:prstGeom prst="line">
            <a:avLst/>
          </a:prstGeom>
          <a:ln w="9525">
            <a:solidFill>
              <a:srgbClr val="DF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2836926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97280" y="2331720"/>
            <a:ext cx="4572000" cy="0"/>
          </a:xfrm>
          <a:prstGeom prst="line">
            <a:avLst/>
          </a:prstGeom>
          <a:ln w="9525">
            <a:solidFill>
              <a:srgbClr val="DF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2231136"/>
            <a:ext cx="274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8</a:t>
            </a:r>
          </a:p>
        </p:txBody>
      </p:sp>
      <p:sp>
        <p:nvSpPr>
          <p:cNvPr id="20" name="Freeform 19"/>
          <p:cNvSpPr/>
          <p:nvPr/>
        </p:nvSpPr>
        <p:spPr>
          <a:xfrm>
            <a:off x="1234440" y="2561920"/>
            <a:ext cx="4251960" cy="1835543"/>
          </a:xfrm>
          <a:custGeom>
            <a:avLst/>
            <a:gdLst/>
            <a:ahLst/>
            <a:cxnLst/>
            <a:rect l="l" t="t" r="r" b="b"/>
            <a:pathLst>
              <a:path w="4251960" h="1835543">
                <a:moveTo>
                  <a:pt x="0" y="1835543"/>
                </a:moveTo>
                <a:lnTo>
                  <a:pt x="850392" y="1835543"/>
                </a:lnTo>
                <a:lnTo>
                  <a:pt x="1700784" y="1802225"/>
                </a:lnTo>
                <a:lnTo>
                  <a:pt x="2551176" y="1650777"/>
                </a:lnTo>
                <a:lnTo>
                  <a:pt x="3401568" y="1257014"/>
                </a:lnTo>
                <a:lnTo>
                  <a:pt x="4251960" y="0"/>
                </a:lnTo>
              </a:path>
            </a:pathLst>
          </a:custGeom>
          <a:noFill/>
          <a:ln w="34925">
            <a:solidFill>
              <a:srgbClr val="0E5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84148" y="4347171"/>
            <a:ext cx="100584" cy="100584"/>
          </a:xfrm>
          <a:prstGeom prst="ellipse">
            <a:avLst/>
          </a:prstGeom>
          <a:solidFill>
            <a:srgbClr val="C8452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104855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25C68"/>
                </a:solidFill>
                <a:latin typeface="Consolas"/>
              </a:rPr>
              <a:t>1.18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4632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0.0</a:t>
            </a:r>
          </a:p>
        </p:txBody>
      </p:sp>
      <p:sp>
        <p:nvSpPr>
          <p:cNvPr id="24" name="Oval 23"/>
          <p:cNvSpPr/>
          <p:nvPr/>
        </p:nvSpPr>
        <p:spPr>
          <a:xfrm>
            <a:off x="2034540" y="4347171"/>
            <a:ext cx="100584" cy="100584"/>
          </a:xfrm>
          <a:prstGeom prst="ellipse">
            <a:avLst/>
          </a:prstGeom>
          <a:solidFill>
            <a:srgbClr val="C8452B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19072" y="4104855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25C68"/>
                </a:solidFill>
                <a:latin typeface="Consolas"/>
              </a:rPr>
              <a:t>1.18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484632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0.2</a:t>
            </a:r>
          </a:p>
        </p:txBody>
      </p:sp>
      <p:sp>
        <p:nvSpPr>
          <p:cNvPr id="27" name="Oval 26"/>
          <p:cNvSpPr/>
          <p:nvPr/>
        </p:nvSpPr>
        <p:spPr>
          <a:xfrm>
            <a:off x="2884932" y="4313853"/>
            <a:ext cx="100584" cy="100584"/>
          </a:xfrm>
          <a:prstGeom prst="ellipse">
            <a:avLst/>
          </a:prstGeom>
          <a:solidFill>
            <a:srgbClr val="0E5C7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569464" y="4071537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25C68"/>
                </a:solidFill>
                <a:latin typeface="Consolas"/>
              </a:rPr>
              <a:t>1.29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9464" y="484632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0.5</a:t>
            </a:r>
          </a:p>
        </p:txBody>
      </p:sp>
      <p:sp>
        <p:nvSpPr>
          <p:cNvPr id="30" name="Oval 29"/>
          <p:cNvSpPr/>
          <p:nvPr/>
        </p:nvSpPr>
        <p:spPr>
          <a:xfrm>
            <a:off x="3735324" y="4162405"/>
            <a:ext cx="100584" cy="100584"/>
          </a:xfrm>
          <a:prstGeom prst="ellipse">
            <a:avLst/>
          </a:prstGeom>
          <a:solidFill>
            <a:srgbClr val="0E5C7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19856" y="3920089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25C68"/>
                </a:solidFill>
                <a:latin typeface="Consolas"/>
              </a:rPr>
              <a:t>1.79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9856" y="484632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1.0</a:t>
            </a:r>
          </a:p>
        </p:txBody>
      </p:sp>
      <p:sp>
        <p:nvSpPr>
          <p:cNvPr id="33" name="Oval 32"/>
          <p:cNvSpPr/>
          <p:nvPr/>
        </p:nvSpPr>
        <p:spPr>
          <a:xfrm>
            <a:off x="4585716" y="3768642"/>
            <a:ext cx="100584" cy="100584"/>
          </a:xfrm>
          <a:prstGeom prst="ellipse">
            <a:avLst/>
          </a:prstGeom>
          <a:solidFill>
            <a:srgbClr val="0E5C7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70248" y="3526326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25C68"/>
                </a:solidFill>
                <a:latin typeface="Consolas"/>
              </a:rPr>
              <a:t>3.09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0248" y="484632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2.0</a:t>
            </a:r>
          </a:p>
        </p:txBody>
      </p:sp>
      <p:sp>
        <p:nvSpPr>
          <p:cNvPr id="36" name="Oval 35"/>
          <p:cNvSpPr/>
          <p:nvPr/>
        </p:nvSpPr>
        <p:spPr>
          <a:xfrm>
            <a:off x="5436108" y="2511628"/>
            <a:ext cx="100584" cy="100584"/>
          </a:xfrm>
          <a:prstGeom prst="ellipse">
            <a:avLst/>
          </a:prstGeom>
          <a:solidFill>
            <a:srgbClr val="0E5C7E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120640" y="2269312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425C68"/>
                </a:solidFill>
                <a:latin typeface="Consolas"/>
              </a:rPr>
              <a:t>7.24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484632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5.0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23951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7A929C"/>
                </a:solidFill>
                <a:latin typeface="Consolas"/>
              </a:rPr>
              <a:t>spoofing walk-off speed (m/s)   ·   y = residual ÷ the uncertainty we claim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550408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7A929C"/>
                </a:solidFill>
                <a:latin typeface="Georgia"/>
              </a:rPr>
              <a:t>Measured on our own detector. </a:t>
            </a:r>
            <a:r>
              <a:rPr sz="950" b="1">
                <a:solidFill>
                  <a:srgbClr val="C8452B"/>
                </a:solidFill>
                <a:latin typeface="Georgia"/>
              </a:rPr>
              <a:t>Below about 0.2 m/s a spoofer moves us slower than our own drift, and we miss it.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1984248"/>
            <a:ext cx="274320" cy="237744"/>
          </a:xfrm>
          <a:prstGeom prst="rect">
            <a:avLst/>
          </a:prstGeom>
          <a:solidFill>
            <a:srgbClr val="E2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850">
                <a:solidFill>
                  <a:srgbClr val="2C7355"/>
                </a:solidFill>
                <a:latin typeface="Consolas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1965960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B24"/>
                </a:solidFill>
                <a:latin typeface="Segoe UI Black"/>
              </a:rPr>
              <a:t>Spoofing caught, GPS named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2185415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25C68"/>
                </a:solidFill>
                <a:latin typeface="Georgia"/>
              </a:rPr>
              <a:t>and the vehicle stays on its true route afterwards.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2487168"/>
            <a:ext cx="274320" cy="237744"/>
          </a:xfrm>
          <a:prstGeom prst="rect">
            <a:avLst/>
          </a:prstGeom>
          <a:solidFill>
            <a:srgbClr val="E2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850">
                <a:solidFill>
                  <a:srgbClr val="2C7355"/>
                </a:solidFill>
                <a:latin typeface="Consolas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2468880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B24"/>
                </a:solidFill>
                <a:latin typeface="Segoe UI Black"/>
              </a:rPr>
              <a:t>Zero false alarms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2688336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25C68"/>
                </a:solidFill>
                <a:latin typeface="Georgia"/>
              </a:rPr>
              <a:t>a clean run with hard turns finishes with no alerts.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2990088"/>
            <a:ext cx="274320" cy="237744"/>
          </a:xfrm>
          <a:prstGeom prst="rect">
            <a:avLst/>
          </a:prstGeom>
          <a:solidFill>
            <a:srgbClr val="E2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850">
                <a:solidFill>
                  <a:srgbClr val="2C7355"/>
                </a:solidFill>
                <a:latin typeface="Consolas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2971800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B24"/>
                </a:solidFill>
                <a:latin typeface="Segoe UI Black"/>
              </a:rPr>
              <a:t>A broken sensor is called a fault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3191256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25C68"/>
                </a:solidFill>
                <a:latin typeface="Georgia"/>
              </a:rPr>
              <a:t>not an attack. Different symptom, correct diagnosis.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493008"/>
            <a:ext cx="274320" cy="237744"/>
          </a:xfrm>
          <a:prstGeom prst="rect">
            <a:avLst/>
          </a:prstGeom>
          <a:solidFill>
            <a:srgbClr val="E2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850">
                <a:solidFill>
                  <a:srgbClr val="2C7355"/>
                </a:solidFill>
                <a:latin typeface="Consolas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3474720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B24"/>
                </a:solidFill>
                <a:latin typeface="Segoe UI Black"/>
              </a:rPr>
              <a:t>A magnet is called interference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3694176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25C68"/>
                </a:solidFill>
                <a:latin typeface="Georgia"/>
              </a:rPr>
              <a:t>the compass swings, the gyro felt no turn.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3995927"/>
            <a:ext cx="274320" cy="237744"/>
          </a:xfrm>
          <a:prstGeom prst="rect">
            <a:avLst/>
          </a:prstGeom>
          <a:solidFill>
            <a:srgbClr val="E2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850">
                <a:solidFill>
                  <a:srgbClr val="2C7355"/>
                </a:solidFill>
                <a:latin typeface="Consolas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3977639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B24"/>
                </a:solidFill>
                <a:latin typeface="Segoe UI Black"/>
              </a:rPr>
              <a:t>Two liars → "I don't know"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4197096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25C68"/>
                </a:solidFill>
                <a:latin typeface="Georgia"/>
              </a:rPr>
              <a:t>it returns cannot_isolate, not a confident wrong answer.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4498848"/>
            <a:ext cx="274320" cy="237744"/>
          </a:xfrm>
          <a:prstGeom prst="rect">
            <a:avLst/>
          </a:prstGeom>
          <a:solidFill>
            <a:srgbClr val="E2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850">
                <a:solidFill>
                  <a:srgbClr val="2C7355"/>
                </a:solidFill>
                <a:latin typeface="Consolas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12280" y="4480560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B24"/>
                </a:solidFill>
                <a:latin typeface="Segoe UI Black"/>
              </a:rPr>
              <a:t>Four vehicles → one attack zone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4700016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25C68"/>
                </a:solidFill>
                <a:latin typeface="Georgia"/>
              </a:rPr>
              <a:t>one alone produces no circle.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5001768"/>
            <a:ext cx="274320" cy="237744"/>
          </a:xfrm>
          <a:prstGeom prst="rect">
            <a:avLst/>
          </a:prstGeom>
          <a:solidFill>
            <a:srgbClr val="E2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850">
                <a:solidFill>
                  <a:srgbClr val="2C7355"/>
                </a:solidFill>
                <a:latin typeface="Consolas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4983480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B24"/>
                </a:solidFill>
                <a:latin typeface="Segoe UI Black"/>
              </a:rPr>
              <a:t>Trucks by configuration only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5202936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25C68"/>
                </a:solidFill>
                <a:latin typeface="Georgia"/>
              </a:rPr>
              <a:t>switching vehicle type changes settings, not code.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5504688"/>
            <a:ext cx="274320" cy="237744"/>
          </a:xfrm>
          <a:prstGeom prst="rect">
            <a:avLst/>
          </a:prstGeom>
          <a:solidFill>
            <a:srgbClr val="E2F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850">
                <a:solidFill>
                  <a:srgbClr val="2C7355"/>
                </a:solidFill>
                <a:latin typeface="Consolas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12280" y="5486400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1B24"/>
                </a:solidFill>
                <a:latin typeface="Segoe UI Black"/>
              </a:rPr>
              <a:t>Every incident replays exactly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80" y="5705856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25C68"/>
                </a:solidFill>
                <a:latin typeface="Georgia"/>
              </a:rPr>
              <a:t>the stored record reproduces an identical verdict.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A929C"/>
                </a:solidFill>
                <a:latin typeface="Consolas"/>
              </a:rPr>
              <a:t>07 / 09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6355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A929C"/>
                </a:solidFill>
                <a:latin typeface="Consolas"/>
              </a:rPr>
              <a:t>SENSORSENTRY  ·  PS 18  ·  REVIEW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E5C7E"/>
                </a:solidFill>
                <a:latin typeface="Segoe UI Black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7A929C"/>
                </a:solidFill>
                <a:latin typeface="Consolas"/>
              </a:rPr>
              <a:t>IN CLOSING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48840" y="612648"/>
            <a:ext cx="9384487" cy="0"/>
          </a:xfrm>
          <a:prstGeom prst="line">
            <a:avLst/>
          </a:prstGeom>
          <a:ln w="9525">
            <a:solidFill>
              <a:srgbClr val="C7D8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0B1B24"/>
                </a:solidFill>
                <a:latin typeface="Segoe UI Black"/>
              </a:rPr>
              <a:t>An attacker can fake the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000" b="1">
                <a:solidFill>
                  <a:srgbClr val="0E5C7E"/>
                </a:solidFill>
                <a:latin typeface="Segoe UI Black"/>
              </a:rPr>
              <a:t>He cannot fake what the vehicle feels.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4023360"/>
            <a:ext cx="3291840" cy="0"/>
          </a:xfrm>
          <a:prstGeom prst="line">
            <a:avLst/>
          </a:prstGeom>
          <a:ln w="31750">
            <a:solidFill>
              <a:srgbClr val="0B1B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416052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0E5C7E"/>
                </a:solidFill>
                <a:latin typeface="Consolas"/>
              </a:rPr>
              <a:t>NO 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3484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25C68"/>
                </a:solidFill>
                <a:latin typeface="Georgia"/>
              </a:rPr>
              <a:t>Ships as a software update into fleets already on the road today.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34840" y="4023360"/>
            <a:ext cx="3291840" cy="0"/>
          </a:xfrm>
          <a:prstGeom prst="line">
            <a:avLst/>
          </a:prstGeom>
          <a:ln w="31750">
            <a:solidFill>
              <a:srgbClr val="0B1B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34840" y="416052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0E5C7E"/>
                </a:solidFill>
                <a:latin typeface="Consolas"/>
              </a:rPr>
              <a:t>A DIAGNOSIS, NOT AN ALARM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43484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25C68"/>
                </a:solidFill>
                <a:latin typeface="Georgia"/>
              </a:rPr>
              <a:t>Names the lying sensor, and says whether it is an attack or a breakdown.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46720" y="4023360"/>
            <a:ext cx="3291840" cy="0"/>
          </a:xfrm>
          <a:prstGeom prst="line">
            <a:avLst/>
          </a:prstGeom>
          <a:ln w="31750">
            <a:solidFill>
              <a:srgbClr val="0B1B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46720" y="4160520"/>
            <a:ext cx="3291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0E5C7E"/>
                </a:solidFill>
                <a:latin typeface="Consolas"/>
              </a:rPr>
              <a:t>HONEST ABOUT ITS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43484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25C68"/>
                </a:solidFill>
                <a:latin typeface="Georgia"/>
              </a:rPr>
              <a:t>It says cannot_isolate when it does not know, and we show you where it fails.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440680"/>
            <a:ext cx="10545775" cy="914400"/>
          </a:xfrm>
          <a:prstGeom prst="rect">
            <a:avLst/>
          </a:prstGeom>
          <a:solidFill>
            <a:srgbClr val="083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55961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B9D8E3"/>
                </a:solidFill>
                <a:latin typeface="Consolas"/>
              </a:rPr>
              <a:t>AND WHERE AN AI MODEL IS ALLOWED TO SIT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870448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B9D8E3"/>
                </a:solidFill>
                <a:latin typeface="Georgia"/>
              </a:rPr>
              <a:t>Nothing in the detection path calls an AI model. It earns exactly one job: </a:t>
            </a:r>
            <a:r>
              <a:rPr sz="1100" b="1">
                <a:solidFill>
                  <a:srgbClr val="FFFFFF"/>
                </a:solidFill>
                <a:latin typeface="Georgia"/>
              </a:rPr>
              <a:t>writing the incident report after the event</a:t>
            </a:r>
            <a:r>
              <a:rPr sz="1100" b="0">
                <a:solidFill>
                  <a:srgbClr val="B9D8E3"/>
                </a:solidFill>
                <a:latin typeface="Georgia"/>
              </a:rPr>
              <a:t>, behind a visible on/off switch. Turn it off, re-run the attack: </a:t>
            </a:r>
            <a:r>
              <a:rPr sz="1100" b="0">
                <a:solidFill>
                  <a:srgbClr val="7FD4EE"/>
                </a:solidFill>
                <a:latin typeface="Georgia"/>
              </a:rPr>
              <a:t>detection is identical.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7A929C"/>
                </a:solidFill>
                <a:latin typeface="Consolas"/>
              </a:rPr>
              <a:t>08 / 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4651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dirty="0">
                <a:solidFill>
                  <a:srgbClr val="7A929C"/>
                </a:solidFill>
                <a:latin typeface="Consolas"/>
              </a:rPr>
              <a:t>SENSORSENTRY  ·  PS 18  ·  REVIEW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1487</Words>
  <Application>Microsoft Office PowerPoint</Application>
  <PresentationFormat>Widescreen</PresentationFormat>
  <Paragraphs>204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Segoe UI</vt:lpstr>
      <vt:lpstr>Segoe UI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Arunsankar</cp:lastModifiedBy>
  <cp:revision>2</cp:revision>
  <dcterms:created xsi:type="dcterms:W3CDTF">2013-01-27T09:14:16Z</dcterms:created>
  <dcterms:modified xsi:type="dcterms:W3CDTF">2026-09-07T11:39:45Z</dcterms:modified>
  <cp:category/>
</cp:coreProperties>
</file>